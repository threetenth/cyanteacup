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7e1ad9314_0_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87e1ad9314_0_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87e1ad9314_0_9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87e1ad9314_0_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87e1ad9314_0_1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87e1ad9314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87e1ad9314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87e1ad9314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87e1ad9314_0_1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87e1ad9314_0_1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87e1ad9314_0_1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87e1ad9314_0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87e1ad9314_0_1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87e1ad9314_0_1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87e1ad9314_0_1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87e1ad9314_0_1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87f92e776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87f92e776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7f92e776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7f92e776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87f92e776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87f92e776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hyperlink" Target="https://github.com/ThreeTenth/CyanTeacup" TargetMode="External"/><Relationship Id="rId5" Type="http://schemas.openxmlformats.org/officeDocument/2006/relationships/hyperlink" Target="https://github.com/ThreeTenth/CyanTeacup" TargetMode="External"/><Relationship Id="rId6" Type="http://schemas.openxmlformats.org/officeDocument/2006/relationships/hyperlink" Target="https://github.com/ThreeTenth/CyanTeacu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CyanTeacup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Teacup 茶杯，与“查背”同音，Cyan 为青（色），与“轻”同音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prototype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zh-CN"/>
              <a:t>Guide page 1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877275" y="560975"/>
            <a:ext cx="2498700" cy="444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6365825" y="2416825"/>
            <a:ext cx="1521600" cy="382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汉语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108050" y="1045625"/>
            <a:ext cx="1492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请选择你的母语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365825" y="3088450"/>
            <a:ext cx="1521600" cy="382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英</a:t>
            </a:r>
            <a:r>
              <a:rPr lang="zh-CN"/>
              <a:t>语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182550" y="4379225"/>
            <a:ext cx="937500" cy="34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下一步</a:t>
            </a:r>
            <a:endParaRPr/>
          </a:p>
        </p:txBody>
      </p:sp>
      <p:pic>
        <p:nvPicPr>
          <p:cNvPr id="99" name="Google Shape;9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4650" y="1914163"/>
            <a:ext cx="1737825" cy="173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prototype</a:t>
            </a:r>
            <a:endParaRPr/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zh-CN"/>
              <a:t>Guide page 2</a:t>
            </a:r>
            <a:endParaRPr/>
          </a:p>
        </p:txBody>
      </p:sp>
      <p:pic>
        <p:nvPicPr>
          <p:cNvPr id="106" name="Google Shape;10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5225" y="1914150"/>
            <a:ext cx="1737825" cy="173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/>
          <p:nvPr/>
        </p:nvSpPr>
        <p:spPr>
          <a:xfrm>
            <a:off x="5877275" y="560975"/>
            <a:ext cx="2498700" cy="444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108050" y="1045625"/>
            <a:ext cx="1492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请选择</a:t>
            </a:r>
            <a:r>
              <a:rPr lang="zh-CN">
                <a:latin typeface="Lato"/>
                <a:ea typeface="Lato"/>
                <a:cs typeface="Lato"/>
                <a:sym typeface="Lato"/>
              </a:rPr>
              <a:t>学习语言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6365825" y="2416825"/>
            <a:ext cx="1521600" cy="382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英/汉</a:t>
            </a:r>
            <a:r>
              <a:rPr lang="zh-CN"/>
              <a:t>语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7182550" y="4379225"/>
            <a:ext cx="937500" cy="34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完成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prototype</a:t>
            </a:r>
            <a:endParaRPr/>
          </a:p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zh-CN"/>
              <a:t>Home page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5877275" y="560950"/>
            <a:ext cx="2498700" cy="444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7275" y="560950"/>
            <a:ext cx="2498700" cy="4444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6145925" y="1510350"/>
            <a:ext cx="1961400" cy="403800"/>
          </a:xfrm>
          <a:prstGeom prst="rect">
            <a:avLst/>
          </a:prstGeom>
          <a:solidFill>
            <a:srgbClr val="F3F3F3">
              <a:alpha val="3706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One sentence per day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6145925" y="2073800"/>
            <a:ext cx="1961400" cy="403800"/>
          </a:xfrm>
          <a:prstGeom prst="rect">
            <a:avLst/>
          </a:prstGeom>
          <a:solidFill>
            <a:srgbClr val="F3F3F3">
              <a:alpha val="3706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每日一句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1" name="Google Shape;12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5225" y="1914150"/>
            <a:ext cx="1737825" cy="173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/>
          <p:nvPr/>
        </p:nvSpPr>
        <p:spPr>
          <a:xfrm>
            <a:off x="5994425" y="685075"/>
            <a:ext cx="2264400" cy="34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5725" y="772124"/>
            <a:ext cx="172100" cy="17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49600" y="1655050"/>
            <a:ext cx="172100" cy="17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prototype</a:t>
            </a:r>
            <a:endParaRPr/>
          </a:p>
        </p:txBody>
      </p:sp>
      <p:sp>
        <p:nvSpPr>
          <p:cNvPr id="130" name="Google Shape;130;p1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zh-CN"/>
              <a:t>Menu</a:t>
            </a:r>
            <a:r>
              <a:rPr lang="zh-CN"/>
              <a:t> page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5877275" y="560950"/>
            <a:ext cx="2498700" cy="444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7275" y="560950"/>
            <a:ext cx="2498700" cy="44442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6145925" y="1510350"/>
            <a:ext cx="1961400" cy="403800"/>
          </a:xfrm>
          <a:prstGeom prst="rect">
            <a:avLst/>
          </a:prstGeom>
          <a:solidFill>
            <a:srgbClr val="F3F3F3">
              <a:alpha val="3706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One sentence per day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6145925" y="2073800"/>
            <a:ext cx="1961400" cy="403800"/>
          </a:xfrm>
          <a:prstGeom prst="rect">
            <a:avLst/>
          </a:prstGeom>
          <a:solidFill>
            <a:srgbClr val="F3F3F3">
              <a:alpha val="3706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/>
              <a:t>每日一句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5994425" y="685075"/>
            <a:ext cx="2264400" cy="34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5725" y="772124"/>
            <a:ext cx="172100" cy="1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/>
          <p:nvPr/>
        </p:nvSpPr>
        <p:spPr>
          <a:xfrm>
            <a:off x="5884486" y="575650"/>
            <a:ext cx="1867800" cy="441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5225" y="1861475"/>
            <a:ext cx="1737825" cy="173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877275" y="685075"/>
            <a:ext cx="978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23 </a:t>
            </a:r>
            <a:r>
              <a:rPr lang="zh-CN" sz="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今日已完成</a:t>
            </a:r>
            <a:endParaRPr sz="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5877275" y="1054188"/>
            <a:ext cx="978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100 </a:t>
            </a:r>
            <a:r>
              <a:rPr lang="zh-CN" sz="6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完成</a:t>
            </a:r>
            <a:endParaRPr sz="600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5884475" y="1827150"/>
            <a:ext cx="18678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latin typeface="Lato"/>
                <a:ea typeface="Lato"/>
                <a:cs typeface="Lato"/>
                <a:sym typeface="Lato"/>
              </a:rPr>
              <a:t>每日一句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5884475" y="2230950"/>
            <a:ext cx="18678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latin typeface="Lato"/>
                <a:ea typeface="Lato"/>
                <a:cs typeface="Lato"/>
                <a:sym typeface="Lato"/>
              </a:rPr>
              <a:t>开始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3" name="Google Shape;14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49600" y="1655050"/>
            <a:ext cx="172100" cy="1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7213175" y="1318650"/>
            <a:ext cx="5391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">
                <a:latin typeface="Lato"/>
                <a:ea typeface="Lato"/>
                <a:cs typeface="Lato"/>
                <a:sym typeface="Lato"/>
              </a:rPr>
              <a:t>更多统计&gt;</a:t>
            </a:r>
            <a:endParaRPr sz="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5884475" y="2700150"/>
            <a:ext cx="18678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latin typeface="Lato"/>
                <a:ea typeface="Lato"/>
                <a:cs typeface="Lato"/>
                <a:sym typeface="Lato"/>
              </a:rPr>
              <a:t>同步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5884475" y="3103950"/>
            <a:ext cx="18678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latin typeface="Lato"/>
                <a:ea typeface="Lato"/>
                <a:cs typeface="Lato"/>
                <a:sym typeface="Lato"/>
              </a:rPr>
              <a:t>关于 CyanTeacup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prototype</a:t>
            </a:r>
            <a:endParaRPr/>
          </a:p>
        </p:txBody>
      </p:sp>
      <p:sp>
        <p:nvSpPr>
          <p:cNvPr id="152" name="Google Shape;152;p18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More statistics page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zh-CN" sz="900"/>
              <a:t>Non-essential functions, can be done or not, can be slow or urgent.</a:t>
            </a:r>
            <a:endParaRPr sz="9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zh-CN" sz="900"/>
              <a:t>统计有，查询次数，重复查询次数，今日完成单词数，已完成单词数……</a:t>
            </a:r>
            <a:endParaRPr sz="900"/>
          </a:p>
        </p:txBody>
      </p:sp>
      <p:sp>
        <p:nvSpPr>
          <p:cNvPr id="153" name="Google Shape;153;p18"/>
          <p:cNvSpPr/>
          <p:nvPr/>
        </p:nvSpPr>
        <p:spPr>
          <a:xfrm>
            <a:off x="5877275" y="560975"/>
            <a:ext cx="2498700" cy="444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877275" y="560975"/>
            <a:ext cx="2498700" cy="38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更多统计</a:t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983625" y="1433075"/>
            <a:ext cx="2286000" cy="125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6136875" y="1743175"/>
            <a:ext cx="187500" cy="944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6498425" y="1995575"/>
            <a:ext cx="187500" cy="692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6859975" y="1612350"/>
            <a:ext cx="187500" cy="1075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7221525" y="1743175"/>
            <a:ext cx="187500" cy="944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7583075" y="1534050"/>
            <a:ext cx="187500" cy="1153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7944625" y="1894625"/>
            <a:ext cx="187500" cy="793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983625" y="1050875"/>
            <a:ext cx="1512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latin typeface="Lato"/>
                <a:ea typeface="Lato"/>
                <a:cs typeface="Lato"/>
                <a:sym typeface="Lato"/>
              </a:rPr>
              <a:t>查询次数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5983625" y="3070175"/>
            <a:ext cx="2286000" cy="125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6136875" y="3942925"/>
            <a:ext cx="187500" cy="3822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6498425" y="3569625"/>
            <a:ext cx="187500" cy="7554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6859975" y="3843650"/>
            <a:ext cx="187500" cy="4812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7221525" y="3483075"/>
            <a:ext cx="187500" cy="8418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7583075" y="3266750"/>
            <a:ext cx="187500" cy="10581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7944625" y="3685000"/>
            <a:ext cx="187500" cy="6399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983625" y="2687975"/>
            <a:ext cx="1512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latin typeface="Lato"/>
                <a:ea typeface="Lato"/>
                <a:cs typeface="Lato"/>
                <a:sym typeface="Lato"/>
              </a:rPr>
              <a:t>学习次数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1" name="Google Shape;17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3075" y="2010163"/>
            <a:ext cx="1737825" cy="173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prototype</a:t>
            </a:r>
            <a:endParaRPr/>
          </a:p>
        </p:txBody>
      </p:sp>
      <p:sp>
        <p:nvSpPr>
          <p:cNvPr id="177" name="Google Shape;177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zh-CN"/>
              <a:t>One sentence per day page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877275" y="560975"/>
            <a:ext cx="2498700" cy="444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7350" y="1739013"/>
            <a:ext cx="1737825" cy="173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877275" y="560975"/>
            <a:ext cx="2498700" cy="38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每日一句</a:t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1" name="Google Shape;18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3250" y="1133285"/>
            <a:ext cx="389275" cy="6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6525200" y="1133275"/>
            <a:ext cx="16008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Real love means giving ...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6525200" y="1449475"/>
            <a:ext cx="16008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真正的爱意味着给别人 ...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4" name="Google Shape;18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12675" y="1249135"/>
            <a:ext cx="113325" cy="11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6525200" y="2084300"/>
            <a:ext cx="16008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There’s nothing for you ...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6525200" y="2400500"/>
            <a:ext cx="16008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来路无可眷恋，值得期 ...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7" name="Google Shape;18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12675" y="2200160"/>
            <a:ext cx="113325" cy="11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43250" y="2084311"/>
            <a:ext cx="389275" cy="69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43250" y="3035342"/>
            <a:ext cx="389275" cy="69745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6525200" y="3035350"/>
            <a:ext cx="16008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It always seems ...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6525200" y="3351550"/>
            <a:ext cx="16008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很多事情在它被完成 ...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2" name="Google Shape;19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12675" y="3151210"/>
            <a:ext cx="113325" cy="11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prototype</a:t>
            </a:r>
            <a:endParaRPr/>
          </a:p>
        </p:txBody>
      </p:sp>
      <p:sp>
        <p:nvSpPr>
          <p:cNvPr id="198" name="Google Shape;198;p20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zh-CN"/>
              <a:t>Word page ( English to Chinese )</a:t>
            </a:r>
            <a:endParaRPr/>
          </a:p>
        </p:txBody>
      </p:sp>
      <p:pic>
        <p:nvPicPr>
          <p:cNvPr id="199" name="Google Shape;1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3075" y="1835338"/>
            <a:ext cx="1737825" cy="173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/>
          <p:nvPr/>
        </p:nvSpPr>
        <p:spPr>
          <a:xfrm>
            <a:off x="5877275" y="560975"/>
            <a:ext cx="2498700" cy="444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877275" y="560975"/>
            <a:ext cx="2498700" cy="38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Nice</a:t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7442100" y="560975"/>
            <a:ext cx="6924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[nais]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3" name="Google Shape;2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1900" y="680441"/>
            <a:ext cx="172100" cy="1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/>
          <p:nvPr/>
        </p:nvSpPr>
        <p:spPr>
          <a:xfrm>
            <a:off x="3188400" y="560975"/>
            <a:ext cx="2498700" cy="86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3188400" y="560975"/>
            <a:ext cx="2498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Nice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3188400" y="943175"/>
            <a:ext cx="840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latin typeface="Lato"/>
                <a:ea typeface="Lato"/>
                <a:cs typeface="Lato"/>
                <a:sym typeface="Lato"/>
              </a:rPr>
              <a:t>英</a:t>
            </a:r>
            <a:r>
              <a:rPr lang="zh-CN">
                <a:latin typeface="Lato"/>
                <a:ea typeface="Lato"/>
                <a:cs typeface="Lato"/>
                <a:sym typeface="Lato"/>
              </a:rPr>
              <a:t> [nais]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7" name="Google Shape;2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0545" y="1064966"/>
            <a:ext cx="172100" cy="1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4408888" y="943175"/>
            <a:ext cx="840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latin typeface="Lato"/>
                <a:ea typeface="Lato"/>
                <a:cs typeface="Lato"/>
                <a:sym typeface="Lato"/>
              </a:rPr>
              <a:t>美</a:t>
            </a:r>
            <a:r>
              <a:rPr lang="zh-CN">
                <a:latin typeface="Lato"/>
                <a:ea typeface="Lato"/>
                <a:cs typeface="Lato"/>
                <a:sym typeface="Lato"/>
              </a:rPr>
              <a:t> [nais]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9" name="Google Shape;2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1033" y="1064966"/>
            <a:ext cx="172100" cy="1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/>
          <p:nvPr/>
        </p:nvSpPr>
        <p:spPr>
          <a:xfrm>
            <a:off x="5665466" y="744250"/>
            <a:ext cx="225900" cy="1083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5877175" y="1053425"/>
            <a:ext cx="2498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不错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877175" y="1577375"/>
            <a:ext cx="24987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latin typeface="Lato"/>
                <a:ea typeface="Lato"/>
                <a:cs typeface="Lato"/>
                <a:sym typeface="Lato"/>
              </a:rPr>
              <a:t>形容词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5883025" y="1855175"/>
            <a:ext cx="1243500" cy="11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latin typeface="Lato"/>
                <a:ea typeface="Lato"/>
                <a:cs typeface="Lato"/>
                <a:sym typeface="Lato"/>
              </a:rPr>
              <a:t>令人愉快；吸引人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latin typeface="Lato"/>
                <a:ea typeface="Lato"/>
                <a:cs typeface="Lato"/>
                <a:sym typeface="Lato"/>
              </a:rPr>
              <a:t>好心；友好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latin typeface="Lato"/>
                <a:ea typeface="Lato"/>
                <a:cs typeface="Lato"/>
                <a:sym typeface="Lato"/>
              </a:rPr>
              <a:t>细节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7126525" y="1855175"/>
            <a:ext cx="1243500" cy="11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latin typeface="Lato"/>
                <a:ea typeface="Lato"/>
                <a:cs typeface="Lato"/>
                <a:sym typeface="Lato"/>
              </a:rPr>
              <a:t>pleasant/attractive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latin typeface="Lato"/>
                <a:ea typeface="Lato"/>
                <a:cs typeface="Lato"/>
                <a:sym typeface="Lato"/>
              </a:rPr>
              <a:t>kink/friendly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latin typeface="Lato"/>
                <a:ea typeface="Lato"/>
                <a:cs typeface="Lato"/>
                <a:sym typeface="Lato"/>
              </a:rPr>
              <a:t>small details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prototype</a:t>
            </a:r>
            <a:endParaRPr/>
          </a:p>
        </p:txBody>
      </p:sp>
      <p:sp>
        <p:nvSpPr>
          <p:cNvPr id="220" name="Google Shape;220;p21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zh-CN"/>
              <a:t>Practice page</a:t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5877275" y="560975"/>
            <a:ext cx="2498700" cy="444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5225" y="1861475"/>
            <a:ext cx="1737825" cy="173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5877275" y="560975"/>
            <a:ext cx="2498700" cy="38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练习</a:t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prototype</a:t>
            </a:r>
            <a:endParaRPr/>
          </a:p>
        </p:txBody>
      </p:sp>
      <p:sp>
        <p:nvSpPr>
          <p:cNvPr id="229" name="Google Shape;229;p22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zh-CN"/>
              <a:t>Sync</a:t>
            </a:r>
            <a:r>
              <a:rPr lang="zh-CN"/>
              <a:t> page 1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5877275" y="560975"/>
            <a:ext cx="2498700" cy="444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5225" y="1861475"/>
            <a:ext cx="1737825" cy="173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5877275" y="560975"/>
            <a:ext cx="2498700" cy="38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同步</a:t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6028175" y="2026225"/>
            <a:ext cx="2196900" cy="38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domain@sample.com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5951500" y="1644025"/>
            <a:ext cx="1155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latin typeface="Lato"/>
                <a:ea typeface="Lato"/>
                <a:cs typeface="Lato"/>
                <a:sym typeface="Lato"/>
              </a:rPr>
              <a:t>同步账号：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028175" y="2842450"/>
            <a:ext cx="2196900" cy="38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AF3E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5982400" y="2460250"/>
            <a:ext cx="1155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latin typeface="Lato"/>
                <a:ea typeface="Lato"/>
                <a:cs typeface="Lato"/>
                <a:sym typeface="Lato"/>
              </a:rPr>
              <a:t>授权码：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7182550" y="4379225"/>
            <a:ext cx="937500" cy="34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下一步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prototype</a:t>
            </a:r>
            <a:endParaRPr/>
          </a:p>
        </p:txBody>
      </p:sp>
      <p:sp>
        <p:nvSpPr>
          <p:cNvPr id="243" name="Google Shape;243;p23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zh-CN"/>
              <a:t>Sync page 2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5877275" y="560975"/>
            <a:ext cx="2498700" cy="444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5225" y="1861475"/>
            <a:ext cx="1737825" cy="173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5877275" y="560975"/>
            <a:ext cx="2498700" cy="38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同步</a:t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7182550" y="4379225"/>
            <a:ext cx="937500" cy="34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开始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6028175" y="2609300"/>
            <a:ext cx="1387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搜索记录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7845125" y="1727416"/>
            <a:ext cx="438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修改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6028175" y="2991500"/>
            <a:ext cx="1387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练习</a:t>
            </a:r>
            <a:r>
              <a:rPr lang="zh-CN">
                <a:latin typeface="Lato"/>
                <a:ea typeface="Lato"/>
                <a:cs typeface="Lato"/>
                <a:sym typeface="Lato"/>
              </a:rPr>
              <a:t>记录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5997050" y="1328550"/>
            <a:ext cx="2196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latin typeface="Lato"/>
                <a:ea typeface="Lato"/>
                <a:cs typeface="Lato"/>
                <a:sym typeface="Lato"/>
              </a:rPr>
              <a:t>你的同步账号：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997050" y="1662550"/>
            <a:ext cx="1907400" cy="38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domain@sample.com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6028175" y="2227100"/>
            <a:ext cx="2196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latin typeface="Lato"/>
                <a:ea typeface="Lato"/>
                <a:cs typeface="Lato"/>
                <a:sym typeface="Lato"/>
              </a:rPr>
              <a:t>你的同步列表</a:t>
            </a:r>
            <a:r>
              <a:rPr lang="zh-CN" sz="1000">
                <a:latin typeface="Lato"/>
                <a:ea typeface="Lato"/>
                <a:cs typeface="Lato"/>
                <a:sym typeface="Lato"/>
              </a:rPr>
              <a:t>：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6028175" y="3373700"/>
            <a:ext cx="1387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语言使用情况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6028175" y="3755900"/>
            <a:ext cx="1387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Lato"/>
                <a:ea typeface="Lato"/>
                <a:cs typeface="Lato"/>
                <a:sym typeface="Lato"/>
              </a:rPr>
              <a:t>统计信息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prototype</a:t>
            </a:r>
            <a:endParaRPr/>
          </a:p>
        </p:txBody>
      </p:sp>
      <p:sp>
        <p:nvSpPr>
          <p:cNvPr id="261" name="Google Shape;261;p24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zh-CN"/>
              <a:t>Practice page</a:t>
            </a:r>
            <a:endParaRPr/>
          </a:p>
        </p:txBody>
      </p:sp>
      <p:sp>
        <p:nvSpPr>
          <p:cNvPr id="262" name="Google Shape;262;p24"/>
          <p:cNvSpPr/>
          <p:nvPr/>
        </p:nvSpPr>
        <p:spPr>
          <a:xfrm>
            <a:off x="5877275" y="560975"/>
            <a:ext cx="2498700" cy="444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3" name="Google Shape;2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5225" y="1861475"/>
            <a:ext cx="1737825" cy="173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5877275" y="560975"/>
            <a:ext cx="2498700" cy="38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关于 CyanTeacup</a:t>
            </a:r>
            <a:endParaRPr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" name="Google Shape;265;p24"/>
          <p:cNvSpPr txBox="1"/>
          <p:nvPr/>
        </p:nvSpPr>
        <p:spPr>
          <a:xfrm>
            <a:off x="5877275" y="943175"/>
            <a:ext cx="2498700" cy="4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latin typeface="Lato"/>
                <a:ea typeface="Lato"/>
                <a:cs typeface="Lato"/>
                <a:sym typeface="Lato"/>
              </a:rPr>
              <a:t>CyanTeacup 是一款作者为自己量身打造的外语学习APP，本着独乐乐不如众乐乐精神，已在 GitHub 开源供所有人使用，GitHub 地址：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u="sng">
                <a:solidFill>
                  <a:schemeClr val="hlink"/>
                </a:solidFill>
                <a:hlinkClick r:id="rId4"/>
              </a:rPr>
              <a:t>https://github.com/ThreeTenth/CyanTeacup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latin typeface="Lato"/>
                <a:ea typeface="Lato"/>
                <a:cs typeface="Lato"/>
                <a:sym typeface="Lato"/>
              </a:rPr>
              <a:t>CyanTeacup 所有资源来源网络，由作者整理，对外开放，API 地址：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u="sng">
                <a:solidFill>
                  <a:schemeClr val="hlink"/>
                </a:solidFill>
                <a:hlinkClick r:id="rId5"/>
              </a:rPr>
              <a:t>https://github.com/ThreeTenth/CyanTeacup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latin typeface="Lato"/>
                <a:ea typeface="Lato"/>
                <a:cs typeface="Lato"/>
                <a:sym typeface="Lato"/>
              </a:rPr>
              <a:t>也可以直接下载数据和源码部署到自己的服务器上：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u="sng">
                <a:solidFill>
                  <a:schemeClr val="hlink"/>
                </a:solidFill>
                <a:hlinkClick r:id="rId6"/>
              </a:rPr>
              <a:t>https://github.com/ThreeTenth/CyanTeacup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latin typeface="Lato"/>
                <a:ea typeface="Lato"/>
                <a:cs typeface="Lato"/>
                <a:sym typeface="Lato"/>
              </a:rPr>
              <a:t>CyanTeacup 采用了半强迫式学习模式，除了网络权限外，仅需要浮窗权限，用于前台弹窗学习，详情可点击</a:t>
            </a:r>
            <a:r>
              <a:rPr lang="zh-CN" sz="10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此处</a:t>
            </a:r>
            <a:r>
              <a:rPr lang="zh-CN" sz="1000">
                <a:latin typeface="Lato"/>
                <a:ea typeface="Lato"/>
                <a:cs typeface="Lato"/>
                <a:sym typeface="Lato"/>
              </a:rPr>
              <a:t>。</a:t>
            </a:r>
            <a:r>
              <a:rPr lang="zh-CN" sz="1000">
                <a:latin typeface="Lato"/>
                <a:ea typeface="Lato"/>
                <a:cs typeface="Lato"/>
                <a:sym typeface="Lato"/>
              </a:rPr>
              <a:t>采用艾宾浩斯遗忘曲线辅助阅读记忆法学习。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latin typeface="Lato"/>
                <a:ea typeface="Lato"/>
                <a:cs typeface="Lato"/>
                <a:sym typeface="Lato"/>
              </a:rPr>
              <a:t>如果有更好的学习方式，请提 issus 告知，谢谢。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